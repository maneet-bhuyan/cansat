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judges and reviewers. Cognitive CanSat transforms a passive 350-gram sounding probe into an autonomous cyber-physical platform combining physics-informed state estimation, calibrated touchdown prognostics, and OOD-guarded TinyML terrain classification.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details the three mathematical failure modes addressed in our IEEE paper: aerodynamic Venturi suction on the barometer, pendulum-induced countdown instability, and closed-set neural overconfidence on non-aerial camera inputs.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architecture separates hard real-time airborne sensing on the dual-MCU payload from heavyweight ground analytics and lakehouse persistence.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Pillar 1 grounds our entire study in real physical hardware measurements. We recorded 362 packets across 3 sessions on the assembled CanSat hardware at 868 meters MSL to extract exact sensor noise covariances.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Instead of predicting absolute altitude—which clips outside the training elevation range—our ExtraTrees regressor learns the scale-invariant aerodynamic Venturi residual on a strictly disjoint seed=1001 calibration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Across 100 held-out flights totaling 44,555 frames, the hybrid EKF + ExtraTrees architecture achieves 0.903 m altitude RMSE, outperforming both standalone EKF (1.281 m) and standalone ExtraTrees (0.982 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training Quantile Gradient Boosting models on 21 thermodynamic and pendulum-energy features, we cut countdown RMSE from 44.46 seconds down to 2.33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Tier 1 TinyLandingNet occupies just 7.15 KB of Flash ROM and achieves 93.04% accuracy on the 4,050-image EuroSAT test split, fitting effortlessly inside the 520 KB ESP32-CAM internal SRAM.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closed-set CNNs fail when shown a human face or indoor wall during bench testing. Our 5-stage AerialVisionGuard blocks 100% of non-aerial frames in under 1.8 milliseconds.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 any telemetry frame reaches our ML models, the TelemetryQualityAnalyzer verifies packet completeness, clock jitter, and GNSS lock integrity.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frontend is engineered for both Mission Control multi-monitor desktops and mobile field-recovery smartphones.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you! Every claim in our IEEE paper is reproducibly verified by ml/validate_paper_claims.py, and the entire application is hardened and ready for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onsolas"/>
              </a:defRPr>
            </a:pPr>
            <a:r>
              <a:t>COGNITIVE CANSAT // EXECUTIVE PITCH &amp; IEEE 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Consolas"/>
              </a:defRPr>
            </a:pPr>
            <a:r>
              <a:t>SLIDE 01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Calibri"/>
              </a:defRPr>
            </a:pPr>
            <a:r>
              <a:t>Cognitive CanSat: Physics-Informed Telemetry &amp; OOD-Guarded Edge TinyML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Autonomous Atmospheric Sounding Pico-Satellite Platform | Dept. of CSE, MVJ College of Engineering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2606040" cy="1417320"/>
          </a:xfrm>
          <a:prstGeom prst="roundRect">
            <a:avLst/>
          </a:prstGeom>
          <a:solidFill>
            <a:srgbClr val="111C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09928"/>
            <a:ext cx="2331720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0B981"/>
                </a:solidFill>
                <a:latin typeface="Consolas"/>
              </a:defRPr>
            </a:pPr>
            <a:r>
              <a:t>-49.2%</a:t>
            </a:r>
          </a:p>
          <a:p>
            <a:pPr>
              <a:spcBef>
                <a:spcPts val="300"/>
              </a:spcBef>
              <a:defRPr sz="1200" b="1">
                <a:solidFill>
                  <a:srgbClr val="F1F5F9"/>
                </a:solidFill>
                <a:latin typeface="Calibri"/>
              </a:defRPr>
            </a:pPr>
            <a:r>
              <a:t>Altitude RMSE Reduction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0.903 m Hybrid EKF+ExtraTrees vs. 1.776 m Raw Baro (N=100 Flights)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4992" y="1600200"/>
            <a:ext cx="2606040" cy="1417320"/>
          </a:xfrm>
          <a:prstGeom prst="roundRect">
            <a:avLst/>
          </a:prstGeom>
          <a:solidFill>
            <a:srgbClr val="111C30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02152" y="1709928"/>
            <a:ext cx="2331720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6B6D4"/>
                </a:solidFill>
                <a:latin typeface="Consolas"/>
              </a:defRPr>
            </a:pPr>
            <a:r>
              <a:t>-94.8%</a:t>
            </a:r>
          </a:p>
          <a:p>
            <a:pPr>
              <a:spcBef>
                <a:spcPts val="300"/>
              </a:spcBef>
              <a:defRPr sz="1200" b="1">
                <a:solidFill>
                  <a:srgbClr val="F1F5F9"/>
                </a:solidFill>
                <a:latin typeface="Calibri"/>
              </a:defRPr>
            </a:pPr>
            <a:r>
              <a:t>Touchdown Countdown Error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2.33 s Quantile GBR RMSE vs. 44.46 s Naive Ballistic Division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600200"/>
            <a:ext cx="2606040" cy="1417320"/>
          </a:xfrm>
          <a:prstGeom prst="roundRect">
            <a:avLst/>
          </a:prstGeom>
          <a:solidFill>
            <a:srgbClr val="111C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709928"/>
            <a:ext cx="2331720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59E0B"/>
                </a:solidFill>
                <a:latin typeface="Consolas"/>
              </a:defRPr>
            </a:pPr>
            <a:r>
              <a:t>7.15 KB</a:t>
            </a:r>
          </a:p>
          <a:p>
            <a:pPr>
              <a:spcBef>
                <a:spcPts val="300"/>
              </a:spcBef>
              <a:defRPr sz="1200" b="1">
                <a:solidFill>
                  <a:srgbClr val="F1F5F9"/>
                </a:solidFill>
                <a:latin typeface="Calibri"/>
              </a:defRPr>
            </a:pPr>
            <a:r>
              <a:t>TinyLandingNet INT8 ROM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93.04% EuroSAT Accuracy in 7,320 INT8 Params on ESP32-CAM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97696" y="1600200"/>
            <a:ext cx="2642616" cy="1417320"/>
          </a:xfrm>
          <a:prstGeom prst="roundRect">
            <a:avLst/>
          </a:prstGeom>
          <a:solidFill>
            <a:srgbClr val="111C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34856" y="1709928"/>
            <a:ext cx="2368296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0B981"/>
                </a:solidFill>
                <a:latin typeface="Consolas"/>
              </a:defRPr>
            </a:pPr>
            <a:r>
              <a:t>100.0%</a:t>
            </a:r>
          </a:p>
          <a:p>
            <a:pPr>
              <a:spcBef>
                <a:spcPts val="300"/>
              </a:spcBef>
              <a:defRPr sz="1200" b="1">
                <a:solidFill>
                  <a:srgbClr val="F1F5F9"/>
                </a:solidFill>
                <a:latin typeface="Calibri"/>
              </a:defRPr>
            </a:pPr>
            <a:r>
              <a:t>OOD Non-Aerial Rejection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5-Stage AerialVisionGuard Blocks Faces, Occlusions &amp; Blur (&lt;1.8 ms)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46120"/>
            <a:ext cx="5486400" cy="3108960"/>
          </a:xfrm>
          <a:prstGeom prst="roundRect">
            <a:avLst/>
          </a:prstGeom>
          <a:solidFill>
            <a:srgbClr val="111C30"/>
          </a:solidFill>
          <a:ln w="15240">
            <a:solidFill>
              <a:srgbClr val="26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355848"/>
            <a:ext cx="64008" cy="288950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374136"/>
            <a:ext cx="5157216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6B6D4"/>
                </a:solidFill>
                <a:latin typeface="Calibri"/>
              </a:defRPr>
            </a:pPr>
            <a:r>
              <a:t>What Problem Does Cognitive CanSat Solve?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Pico-satellites (250-350 g) operate under strict 520 KB SRAM, 320 mW power, and 9600 bps RF telemetry limits.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Venturi static-port suction corrupts barometric altitude during rapid freefall and canopy descent.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Parachute pendulum oscillations (+/-18 deg) cause naive h/|vz| countdown timers to diverge by &gt;40 seconds.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Closed-set edge CNNs misclassify bench-handling human faces or camera occlusions as safe landing zones.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246120"/>
            <a:ext cx="5422392" cy="3108960"/>
          </a:xfrm>
          <a:prstGeom prst="roundRect">
            <a:avLst/>
          </a:prstGeom>
          <a:solidFill>
            <a:srgbClr val="111C30"/>
          </a:solidFill>
          <a:ln w="15240">
            <a:solidFill>
              <a:srgbClr val="26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355848"/>
            <a:ext cx="64008" cy="288950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3374136"/>
            <a:ext cx="5093207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Calibri"/>
              </a:defRPr>
            </a:pPr>
            <a:r>
              <a:t>Key Innovations &amp; Unbiased Validation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Physics-Informed EKF + Scale-Invariant ExtraTrees Calibrator trained on strictly disjoint flight ensembles.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Quantile Gradient Boosting Touchdown Prognostics delivering calibrated [P10, P90] uncertainty intervals.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- 3-Tier Vision Hierarchy: TinyLandingNet (7.15 KB edge) benchmarked against MobileNetV3-Small &amp; ResNet-18.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Zero-Leakage Scientific Audit: 100% of paper claims verified programmatically via ml/validate_paper_claims.py.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onsolas"/>
              </a:defRPr>
            </a:pPr>
            <a:r>
              <a:t>COGNITIVE CANSAT // PROBLEM FORMULATION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Consolas"/>
              </a:defRPr>
            </a:pPr>
            <a:r>
              <a:t>SLIDE 02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Calibri"/>
              </a:defRPr>
            </a:pPr>
            <a:r>
              <a:t>Three Core Failure Modes in Atmospheric Sounding Pico-Satellites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Why standard linear filters, ballistic formulas, and unguarded CNNs fail in turbulent descent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3566160" cy="4754880"/>
          </a:xfrm>
          <a:prstGeom prst="roundRect">
            <a:avLst/>
          </a:prstGeom>
          <a:solidFill>
            <a:srgbClr val="111C30"/>
          </a:solidFill>
          <a:ln w="15240">
            <a:solidFill>
              <a:srgbClr val="26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64207"/>
            <a:ext cx="64008" cy="453542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82495"/>
            <a:ext cx="3236976" cy="4498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9E0B"/>
                </a:solidFill>
                <a:latin typeface="Calibri"/>
              </a:defRPr>
            </a:pPr>
            <a:r>
              <a:t>1. Barometric Venturi Depression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High-velocity airflow across chassis static vents induces Bernoulli dynamic pressure depression: dP_q = -0.5 * c_p * rho * vz^2.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Causes systematic positive altitude bias dh_q = +c_p * vz^2 / (2g) * (1 + 0.15 sin^2(psi)).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Causal Savitzky-Golay smoothing (1.778 m RMSE) smooths white noise right around the biased curve without removing the offset.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- 1.25 Hz packet jitter amplifies finite-difference velocity noise.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554480"/>
            <a:ext cx="3566160" cy="4754880"/>
          </a:xfrm>
          <a:prstGeom prst="roundRect">
            <a:avLst/>
          </a:prstGeom>
          <a:solidFill>
            <a:srgbClr val="111C30"/>
          </a:solidFill>
          <a:ln w="15240">
            <a:solidFill>
              <a:srgbClr val="26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664207"/>
            <a:ext cx="64008" cy="453542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1682495"/>
            <a:ext cx="3236976" cy="4498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6B6D4"/>
                </a:solidFill>
                <a:latin typeface="Calibri"/>
              </a:defRPr>
            </a:pPr>
            <a:r>
              <a:t>2. Parachute Pendulum Countdown Divergence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After pyrotechnic separation (&gt;5G shock), the canopy enters coupled pendulum oscillation (+/-18 deg pitch/roll).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Vertical descent rate vz fluctuates rapidly during wind gusts and thermal updrafts.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Naive ballistic countdown tau = h / |vz| yields 44.46 s RMSE and negative R^2 (-2.01).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Payload cameras and recovery beacons cannot trigger reliably without calibrated uncertainty bounds.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54480"/>
            <a:ext cx="3593592" cy="4754880"/>
          </a:xfrm>
          <a:prstGeom prst="roundRect">
            <a:avLst/>
          </a:prstGeom>
          <a:solidFill>
            <a:srgbClr val="111C30"/>
          </a:solidFill>
          <a:ln w="15240">
            <a:solidFill>
              <a:srgbClr val="26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664207"/>
            <a:ext cx="64008" cy="453542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682495"/>
            <a:ext cx="3264408" cy="4498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Calibri"/>
              </a:defRPr>
            </a:pPr>
            <a:r>
              <a:t>3. Closed-Set Softmax Overconfidence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ESP32-CAM provides only 520 KB internal SRAM (no PSRAM required for our 7.15 KB model).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A 4-class softmax layer must sum to 1.0 even when viewing non-aerial Out-of-Distribution (OOD) inputs.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Bench-top human faces, indoor lab walls, and lens caps trigger false &gt;85% SAFE_LZ clearances on unguarded CNNs.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Requires pre-neural and post-neural statistical/spectral gating.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onsolas"/>
              </a:defRPr>
            </a:pPr>
            <a:r>
              <a:t>COGNITIVE CANSAT //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Consolas"/>
              </a:defRPr>
            </a:pPr>
            <a:r>
              <a:t>SLIDE 03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Calibri"/>
              </a:defRPr>
            </a:pPr>
            <a:r>
              <a:t>Dual-Tier Airborne Edge &amp; Ground Lakehouse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Split-compute pipeline bridging 433 MHz LoRa + 2.4 GHz ESP-NOW with FastAPI, SQLite WAL, and Redpanda/Kafka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394960" cy="2286000"/>
          </a:xfrm>
          <a:prstGeom prst="roundRect">
            <a:avLst/>
          </a:prstGeom>
          <a:solidFill>
            <a:srgbClr val="111C30"/>
          </a:solidFill>
          <a:ln w="15240">
            <a:solidFill>
              <a:srgbClr val="26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64207"/>
            <a:ext cx="64008" cy="2066543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82495"/>
            <a:ext cx="5065776" cy="202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6B6D4"/>
                </a:solidFill>
                <a:latin typeface="Calibri"/>
              </a:defRPr>
            </a:pPr>
            <a:r>
              <a:t>Tier 1: Airborne Avionics &amp; Edge Vision (350g, 66x115mm)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Primary Flight MCU: Polls BMP280 (Pressure/Temp), DHT11/SHT31 (Humidity), MPU6050 6-DOF IMU (+/-16G, +/-2000 deg/s), u-blox NEO-6M GNSS, and 1S LiPo ADC at 1.25 Hz (dt = 0.8 s).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Edge Vision Node (AI-Thinker ESP32-CAM, 240 MHz Xtensa LX6): Captures 320x240 QVGA frames, runs 7.15 KB INT8 TinyLandingNet across a 3x3 grid (16.3 ms/tile), and computes Escape Heading.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023360"/>
            <a:ext cx="5394960" cy="2286000"/>
          </a:xfrm>
          <a:prstGeom prst="roundRect">
            <a:avLst/>
          </a:prstGeom>
          <a:solidFill>
            <a:srgbClr val="111C30"/>
          </a:solidFill>
          <a:ln w="15240">
            <a:solidFill>
              <a:srgbClr val="26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4133088"/>
            <a:ext cx="64008" cy="20665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4151376"/>
            <a:ext cx="5065776" cy="202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9E0B"/>
                </a:solidFill>
                <a:latin typeface="Calibri"/>
              </a:defRPr>
            </a:pPr>
            <a:r>
              <a:t>Dual-Link RF Downlink &amp; Web Serial Ingestion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Sub-GHz LoRa (433/868/915 MHz @ 9600 bps): Transmits 13-channel CSV telemetry over 1.5 km slant range.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- 2.4 GHz ESP-NOW (@ 460,800 baud UART bridge): Streams compressed QVGA MJPEG frames + 3x3 SLAI hazard telemetry.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Direct Chromium Web Serial API (COM4 + COM5) or WebSocket streaming.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54480"/>
            <a:ext cx="5422392" cy="4754880"/>
          </a:xfrm>
          <a:prstGeom prst="roundRect">
            <a:avLst/>
          </a:prstGeom>
          <a:solidFill>
            <a:srgbClr val="111C30"/>
          </a:solidFill>
          <a:ln w="15240">
            <a:solidFill>
              <a:srgbClr val="26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664207"/>
            <a:ext cx="64008" cy="453542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682495"/>
            <a:ext cx="5093207" cy="4498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Calibri"/>
              </a:defRPr>
            </a:pPr>
            <a:r>
              <a:t>Tier 2: Ground Station Analytics &amp; Telemetry Lakehouse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TelemetryQualityAnalyzer: Deterministic verification of packet completeness, clock jitter, GNSS (0,0) lock losses, and sensor step anomalies.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Kinematics &amp; Atmospheric Engines: Hypsometric altitude, Magnus-Tetens dew point, humid air density, 1D EKF, and complementary attitude filter.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- 5-Model Tabular ML Suite: Random Forest Phase Classifier (97.96%), PyOD Isolation Forest (0.8407 ROC-AUC), Apogee GBR, ExtraTrees Calibrator, and Quantile TTD Prognostics.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- 3-Tier Vision &amp; OOD Guard: 5-Stage AerialVisionGuard + TinyLandingNet / MobileNetV3-Small / ResNet-18 comparison.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Persistence: SQLite WAL (data/cansat_missions.db, 3,898 rows) + Redpanda/Kafka + TimescaleDB + MinIO S3.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onsolas"/>
              </a:defRPr>
            </a:pPr>
            <a:r>
              <a:t>COGNITIVE CANSAT // VALIDATION PILLAR 1: REAL HARDWARE TELEMETRY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Consolas"/>
              </a:defRPr>
            </a:pPr>
            <a:r>
              <a:t>SLIDE 04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Calibri"/>
              </a:defRPr>
            </a:pPr>
            <a:r>
              <a:t>Physical CanSat Hardware Bench-Top Characterization (N = 362 Real Packets)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Empirical sensor noise covariances recorded from assembled avionics at ~868 m MSL in data/cansat_missions.db</a:t>
            </a:r>
          </a:p>
        </p:txBody>
      </p:sp>
      <p:pic>
        <p:nvPicPr>
          <p:cNvPr id="7" name="Picture 6" descr="paper_fig1_hardware_bench_character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8760"/>
            <a:ext cx="7040880" cy="460365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0" y="1508760"/>
            <a:ext cx="3867912" cy="4800600"/>
          </a:xfrm>
          <a:prstGeom prst="roundRect">
            <a:avLst/>
          </a:prstGeom>
          <a:solidFill>
            <a:srgbClr val="111C30"/>
          </a:solidFill>
          <a:ln w="15240">
            <a:solidFill>
              <a:srgbClr val="26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0" y="1618488"/>
            <a:ext cx="64008" cy="458114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73568" y="1636776"/>
            <a:ext cx="3538728" cy="454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6B6D4"/>
                </a:solidFill>
                <a:latin typeface="Calibri"/>
              </a:defRPr>
            </a:pPr>
            <a:r>
              <a:t>Measured Hardware Noise Floor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- 3 Logged Hardware Missions (362 packets) stored in SQLite WAL database alongside 3,536 scenario frames (3,898 total rows).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Stationary Runs (A2F9, 106 pkts; 2DD8, 135 pkts): Extracted 1-sigma white noise floor at 868.7 m MSL.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Barometric Noise: sigma_h = 0.423 m, sigma_P = 0.143 hPa.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Thermal/Humidity Noise: sigma_T = 0.165 C, sigma_RH = 1.515%.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- 6-DOF MEMS IMU Noise: sigma_a = 0.022 G, sigma_g = 2.02 deg/s.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Dynamic Session (74EE, 121 pkts): Verified +/-42 deg tilt and [-114.7, +98.9] deg/s angular tracking without I2C lockup.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onsolas"/>
              </a:defRPr>
            </a:pPr>
            <a:r>
              <a:t>COGNITIVE CANSAT // METHODOLOGY: STATE ESTIMATION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Consolas"/>
              </a:defRPr>
            </a:pPr>
            <a:r>
              <a:t>SLIDE 05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Calibri"/>
              </a:defRPr>
            </a:pPr>
            <a:r>
              <a:t>Physics-Informed Hybrid EKF + Scale-Invariant ExtraTrees Calibrator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Eliminating aerodynamic Venturi pressure depression without train-test leakage or extrapolation clipping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486400" cy="4754880"/>
          </a:xfrm>
          <a:prstGeom prst="roundRect">
            <a:avLst/>
          </a:prstGeom>
          <a:solidFill>
            <a:srgbClr val="111C30"/>
          </a:solidFill>
          <a:ln w="15240">
            <a:solidFill>
              <a:srgbClr val="26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64207"/>
            <a:ext cx="64008" cy="453542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82495"/>
            <a:ext cx="5157216" cy="4498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6B6D4"/>
                </a:solidFill>
                <a:latin typeface="Calibri"/>
              </a:defRPr>
            </a:pPr>
            <a:r>
              <a:t>Stage 1: Adaptive 1D Constant-Velocity EKF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State Vector x_k = [h_k, vz_k]^T driven by vertical inertial acceleration u_k = (az_k - 1.0) * g0.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Non-uniform dt_k transition matrices F_k and Q_k handle LoRa UART timing jitter (8 ms to 199 ms).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High-G Shock Gate: When |a_k| &gt; 2.5G (pyrotechnic apogee burst), process noise variance sigma_q^2 scales 10x to prevent filter lag.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Provides smooth kinematic prior x_{k|k} and vertical velocity estimate vz_k.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422392" cy="4754880"/>
          </a:xfrm>
          <a:prstGeom prst="roundRect">
            <a:avLst/>
          </a:prstGeom>
          <a:solidFill>
            <a:srgbClr val="111C30"/>
          </a:solidFill>
          <a:ln w="15240">
            <a:solidFill>
              <a:srgbClr val="26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64207"/>
            <a:ext cx="64008" cy="453542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682495"/>
            <a:ext cx="5093207" cy="4498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Calibri"/>
              </a:defRPr>
            </a:pPr>
            <a:r>
              <a:t>Stage 2: Disjoint ExtraTrees Venturi Compensator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Direct altitude tree regressors fail when test apogees (up to 1,250 m) exceed training altitudes.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Our residual_pipeline predicts the scale-invariant aerodynamic bias b_hat_k = f_ET(u_k) from 13 aerodynamic features (dynamic pressure proxy, tilt sin^2(psi), |a|, |omega|).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Trained on 80 independent calibration flights (seed=1001, 35,342 samples) with unknown Venturi coefficients c_p in [0.38, 0.62].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Convex Fusion: h_hat_k = 0.25 * h_{k|k}^EKF + 0.75 * (h_raw,k - b_hat_k).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onsolas"/>
              </a:defRPr>
            </a:pPr>
            <a:r>
              <a:t>COGNITIVE CANSAT // VALIDATION PILLAR 2: UNBIASED 100-FLIGHT ABLATION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Consolas"/>
              </a:defRPr>
            </a:pPr>
            <a:r>
              <a:t>SLIDE 06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Calibri"/>
              </a:defRPr>
            </a:pPr>
            <a:r>
              <a:t>5-Method State Estimation Ablation Across 100 Held-Out Flights (44,555 Frames)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Evaluated on strictly disjoint seed=20260921 with zero analytical formula subtraction in the test loop</a:t>
            </a:r>
          </a:p>
        </p:txBody>
      </p:sp>
      <p:pic>
        <p:nvPicPr>
          <p:cNvPr id="7" name="Picture 6" descr="paper_fig2_monte_carlo_state_estim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8760"/>
            <a:ext cx="7132320" cy="280970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818120" y="1508760"/>
            <a:ext cx="3822191" cy="4800600"/>
          </a:xfrm>
          <a:prstGeom prst="roundRect">
            <a:avLst/>
          </a:prstGeom>
          <a:solidFill>
            <a:srgbClr val="111C30"/>
          </a:solidFill>
          <a:ln w="15240">
            <a:solidFill>
              <a:srgbClr val="26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18120" y="1618488"/>
            <a:ext cx="64008" cy="45811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19288" y="1636776"/>
            <a:ext cx="3493008" cy="454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Calibri"/>
              </a:defRPr>
            </a:pPr>
            <a:r>
              <a:t>Unbiased Ablation Findings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- 1. Raw Barometric Altimetry: 1.776 +/- 0.258 m RMSE (Baseline).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- 2. Causal Savitzky-Golay (N=11, p=2): 1.778 +/- 0.256 m RMSE (cannot remove Venturi offset).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- 3. Standalone 1D EKF (No ML): 1.281 +/- 0.145 m RMSE (-27.9% reduction via IMU fusion).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- 4. Standalone ExtraTrees (No EKF): 0.982 +/- 0.146 m RMSE (-44.7% reduction).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- 5. Proposed Hybrid EKF + ExtraTrees: 0.903 +/- 0.130 m RMSE (-49.2% reduction, 95% CI [0.877, 0.928] m).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onsolas"/>
              </a:defRPr>
            </a:pPr>
            <a:r>
              <a:t>COGNITIVE CANSAT // PROGNOSTICS &amp; TRAJECTORY ENVELOPE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Consolas"/>
              </a:defRPr>
            </a:pPr>
            <a:r>
              <a:t>SLIDE 07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Calibri"/>
              </a:defRPr>
            </a:pPr>
            <a:r>
              <a:t>Quantile Touchdown Prognostics &amp; 10-Scenario Atmospheric Envelope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94.8% countdown error reduction with unpadded [P10, P90] prediction intervals across turbulent descent regimes</a:t>
            </a:r>
          </a:p>
        </p:txBody>
      </p:sp>
      <p:pic>
        <p:nvPicPr>
          <p:cNvPr id="7" name="Picture 6" descr="paper_fig3_10scenario_kinematics_envelo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8760"/>
            <a:ext cx="7132320" cy="30175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818120" y="1508760"/>
            <a:ext cx="3822191" cy="4800600"/>
          </a:xfrm>
          <a:prstGeom prst="roundRect">
            <a:avLst/>
          </a:prstGeom>
          <a:solidFill>
            <a:srgbClr val="111C30"/>
          </a:solidFill>
          <a:ln w="15240">
            <a:solidFill>
              <a:srgbClr val="26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18120" y="1618488"/>
            <a:ext cx="64008" cy="458114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19288" y="1636776"/>
            <a:ext cx="3493008" cy="454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6B6D4"/>
                </a:solidFill>
                <a:latin typeface="Calibri"/>
              </a:defRPr>
            </a:pPr>
            <a:r>
              <a:t>Touchdown &amp; Phase Metrics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Quantile Gradient Boosting (alpha = 0.10, 0.50, 0.90) ingests 21 aerodynamic features (air density, dynamic pressure q, pendulum energy).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Holdout TTD RMSE: 2.33 s vs. 44.46 s Naive Ballistic (-94.8% error, R^2 = 0.9963).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Unpadded [P10, P90] Coverage (PICP): 81.27% on holdout (target 80.0%) and 74.8% across 100 Monte Carlo flights.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Descent Regime Classifier: 99.75% holdout / 96.8% MC accuracy.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Flight Phase Classifier: 97.96% holdout / 94.37% MC accuracy.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onsolas"/>
              </a:defRPr>
            </a:pPr>
            <a:r>
              <a:t>COGNITIVE CANSAT // VALIDATION PILLAR 3: THREE-TIER COMPUTER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Consolas"/>
              </a:defRPr>
            </a:pPr>
            <a:r>
              <a:t>SLIDE 08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Calibri"/>
              </a:defRPr>
            </a:pPr>
            <a:r>
              <a:t>TinyLandingNet (7.15 KB INT8) vs. MobileNetV3-Small &amp; ResNet-18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Benchmarking microcontroller depthwise-separable CNNs against CUDA-trained ground-station backbones on 27,000 EuroSAT patches</a:t>
            </a:r>
          </a:p>
        </p:txBody>
      </p:sp>
      <p:pic>
        <p:nvPicPr>
          <p:cNvPr id="7" name="Picture 6" descr="paper_fig4_vision_hierarchy_and_ood_gu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8760"/>
            <a:ext cx="7132320" cy="24302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818120" y="1508760"/>
            <a:ext cx="3822191" cy="4800600"/>
          </a:xfrm>
          <a:prstGeom prst="roundRect">
            <a:avLst/>
          </a:prstGeom>
          <a:solidFill>
            <a:srgbClr val="111C30"/>
          </a:solidFill>
          <a:ln w="15240">
            <a:solidFill>
              <a:srgbClr val="26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18120" y="1618488"/>
            <a:ext cx="64008" cy="45811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19288" y="1636776"/>
            <a:ext cx="3493008" cy="454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9E0B"/>
                </a:solidFill>
                <a:latin typeface="Calibri"/>
              </a:defRPr>
            </a:pPr>
            <a:r>
              <a:t>3-Tier Tradeoff Analysis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Tier 1 TinyLandingNet (Edge ESP32-CAM): 6,996 FP32 / 7,320 INT8 params, 7.15 KB Flash ROM, 0.783 MMACs, 93.04% Test Acc, 0.055 ms ONNX / 16.3 ms MCU.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Tier 2 MobileNetV3-Small (Ground Fast): 1.52M params, 1,486 KB INT8, 99.68% Acc, 25.09 ms CPU.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Tier 3 ResNet-18 (Ground Heavy): 11.18M params, 10,917 KB INT8, 99.73% Acc, 31.86 ms CPU.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ResNet-18 requires 1,597x more parameters and exceeds the 520 KB ESP32 SRAM limit by &gt;80x for a +6.69% accuracy gain.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onsolas"/>
              </a:defRPr>
            </a:pPr>
            <a:r>
              <a:t>COGNITIVE CANSAT // OPEN-SET VISION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Consolas"/>
              </a:defRPr>
            </a:pPr>
            <a:r>
              <a:t>SLIDE 09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Calibri"/>
              </a:defRPr>
            </a:pPr>
            <a:r>
              <a:t>Five-Stage Out-of-Distribution (OOD) AerialVisionGuard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100% rejection of non-aerial inputs (human faces, indoor walls, lens caps, blur) in &lt;1.8 ms overhead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486400" cy="4754880"/>
          </a:xfrm>
          <a:prstGeom prst="roundRect">
            <a:avLst/>
          </a:prstGeom>
          <a:solidFill>
            <a:srgbClr val="111C30"/>
          </a:solidFill>
          <a:ln w="15240">
            <a:solidFill>
              <a:srgbClr val="26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64207"/>
            <a:ext cx="64008" cy="453542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82495"/>
            <a:ext cx="5157216" cy="4498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6B6D4"/>
                </a:solidFill>
                <a:latin typeface="Calibri"/>
              </a:defRPr>
            </a:pPr>
            <a:r>
              <a:t>Pre-Neural Statistical &amp; Spectral Gates (Stages 1-3)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Stage 1 (Luminance &amp; Saturation Gate): Rejects lens-cap darkness (mu_Y &lt; 18), overexposure (mu_Y &gt; 245), or flat occlusion (sigma_Y &lt; 6.0).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Stage 2 (YCbCr Skin-Tone &amp; VARI Portrait Gate): Rejects close-up human faces when central YCbCr skin ratio &gt; 0.22, R &gt; G + 12, and vegetation index VARI &lt; -0.04.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Stage 3 (Laplacian Micro-Texture Gate): Rejects smooth indoor walls and motion blur when Var(laplacian(Y)) &lt; 14.0.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422392" cy="4754880"/>
          </a:xfrm>
          <a:prstGeom prst="roundRect">
            <a:avLst/>
          </a:prstGeom>
          <a:solidFill>
            <a:srgbClr val="111C30"/>
          </a:solidFill>
          <a:ln w="15240">
            <a:solidFill>
              <a:srgbClr val="26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64207"/>
            <a:ext cx="64008" cy="453542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682495"/>
            <a:ext cx="5093207" cy="4498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Calibri"/>
              </a:defRPr>
            </a:pPr>
            <a:r>
              <a:t>Post-Neural Energy &amp; Physical Cross-Checks (Stages 4-5)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Stage 4 (Helmholtz Free Energy &amp; Shannon Entropy): Computes E(x;T) = -T ln sum exp(z_c/T) and normalized entropy H(p). Flags H(p) &gt; 0.78 or max_c p_c &lt; 0.48 as uncertain.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Stage 5 (VARI Spectral-Neural Cross-Check): Overrides false &gt;70% SAFE_LZ or OBSTACLE_CANOPY predictions when physical vegetation index VARI &lt; -0.06.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Result: 100% OOD rejection across all 4 non-aerial hazard categories across all 3 CNN backbones while passing 100% of real drone descent videos.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onsolas"/>
              </a:defRPr>
            </a:pPr>
            <a:r>
              <a:t>COGNITIVE CANSAT // DATA ENGINEERING &amp;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Consolas"/>
              </a:defRPr>
            </a:pPr>
            <a:r>
              <a:t>SLIDE 10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Calibri"/>
              </a:defRPr>
            </a:pPr>
            <a:r>
              <a:t>Deterministic Telemetry Quality Analyzer &amp; Distributed Lakehouse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Objective, non-heuristic link verification (backend/core/telemetry_analyzer.py) before ML ingestion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486400" cy="4754880"/>
          </a:xfrm>
          <a:prstGeom prst="roundRect">
            <a:avLst/>
          </a:prstGeom>
          <a:solidFill>
            <a:srgbClr val="111C30"/>
          </a:solidFill>
          <a:ln w="15240">
            <a:solidFill>
              <a:srgbClr val="26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64207"/>
            <a:ext cx="64008" cy="453542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82495"/>
            <a:ext cx="5157216" cy="4498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9E0B"/>
                </a:solidFill>
                <a:latin typeface="Calibri"/>
              </a:defRPr>
            </a:pPr>
            <a:r>
              <a:t>Objective Telemetry Integrity Metrics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Packet Completeness: Exact ratio N_valid / N_total plus malformed line indices and NaN/null cell coordinates.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Temporal Regularity: Inter-packet dt distribution (mean, median, SD, jitter) and dropout intervals where dt &gt;= 2.0 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GNSS Lock &amp; Step-Anomaly Detection: Identifies indoor/blackout (0.0, 0.0) lock losses and unphysical single-step jumps (|dT| &gt; 5C, |dh| &gt; 50m).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Verified across all 10 scenarios (95.47% completeness in high-dropout Scenario 04; 31 blackout rows in Scenario 08).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422392" cy="4754880"/>
          </a:xfrm>
          <a:prstGeom prst="roundRect">
            <a:avLst/>
          </a:prstGeom>
          <a:solidFill>
            <a:srgbClr val="111C30"/>
          </a:solidFill>
          <a:ln w="15240">
            <a:solidFill>
              <a:srgbClr val="26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64207"/>
            <a:ext cx="64008" cy="453542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682495"/>
            <a:ext cx="5093207" cy="4498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6B6D4"/>
                </a:solidFill>
                <a:latin typeface="Calibri"/>
              </a:defRPr>
            </a:pPr>
            <a:r>
              <a:t>Dual-Tier Persistence &amp; Cloud Lakehouse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Local Zero-Config Persistence: SQLite Write-Ahead Logging (WAL) database (data/cansat_missions.db) with automatic session recovery.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Event Streaming: Asynchronous Redpanda / Apache Kafka producer (cansat.telemetry.raw and cansat.vision.frames topics).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Time-Series &amp; Object Storage: TimescaleDB hypertables for SQL analytics + MinIO S3 bucket for raw QVGA frame archives.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Automated Post-Flight Review (PFR): Generates 300-DPI PDF &amp; Markdown executive mission reports in one click.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onsolas"/>
              </a:defRPr>
            </a:pPr>
            <a:r>
              <a:t>COGNITIVE CANSAT // HUMAN-MACHINE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Consolas"/>
              </a:defRPr>
            </a:pPr>
            <a:r>
              <a:t>SLIDE 11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Calibri"/>
              </a:defRPr>
            </a:pPr>
            <a:r>
              <a:t>Responsive Web Serial Mission Control HUD (Desktop &amp; Mobile Views)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60 FPS GPU-accelerated telemetry dashboard with 3D WebGL attitude cylinder, Leaflet GNSS recovery, and live replay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3657600" cy="4754880"/>
          </a:xfrm>
          <a:prstGeom prst="roundRect">
            <a:avLst/>
          </a:prstGeom>
          <a:solidFill>
            <a:srgbClr val="111C30"/>
          </a:solidFill>
          <a:ln w="15240">
            <a:solidFill>
              <a:srgbClr val="26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64207"/>
            <a:ext cx="64008" cy="453542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82495"/>
            <a:ext cx="3328416" cy="4498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6B6D4"/>
                </a:solidFill>
                <a:latin typeface="Calibri"/>
              </a:defRPr>
            </a:pPr>
            <a:r>
              <a:t>Real-Time 12-Tile Telemetry HUD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Chart.js time-series with decimated ring buffers (`animation: false`) for zero-GC-stutter 60 FPS rendering.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Three.js WebGL 3D CanSat attitude model with one-click TARE UPRIGHT stationary calibration.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Leaflet dark-matter GNSS ground track with Haversine distance and Google Maps field recovery deep-links.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54480"/>
            <a:ext cx="3566160" cy="4754880"/>
          </a:xfrm>
          <a:prstGeom prst="roundRect">
            <a:avLst/>
          </a:prstGeom>
          <a:solidFill>
            <a:srgbClr val="111C30"/>
          </a:solidFill>
          <a:ln w="15240">
            <a:solidFill>
              <a:srgbClr val="26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664207"/>
            <a:ext cx="64008" cy="453542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682495"/>
            <a:ext cx="3236976" cy="4498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Calibri"/>
              </a:defRPr>
            </a:pPr>
            <a:r>
              <a:t>Interactive Simulation &amp; Vision Lab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Live 10-Scenario Selector (#demo-scenario-select) + 0.5x-10x frame scrubber for judge inspection.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TinyML Vision Lab (tinyml.html): Live webcam OOD stress-testing, 3x3 SLAI hazard overlay, and 3-model comparison.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Research Hub (results.html &amp; pitch.html): Interactive figures, paper downloads, and slide deck.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54480"/>
            <a:ext cx="3593592" cy="4754880"/>
          </a:xfrm>
          <a:prstGeom prst="roundRect">
            <a:avLst/>
          </a:prstGeom>
          <a:solidFill>
            <a:srgbClr val="111C30"/>
          </a:solidFill>
          <a:ln w="15240">
            <a:solidFill>
              <a:srgbClr val="26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664207"/>
            <a:ext cx="64008" cy="453542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682495"/>
            <a:ext cx="3264408" cy="4498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9E0B"/>
                </a:solidFill>
                <a:latin typeface="Calibri"/>
              </a:defRPr>
            </a:pPr>
            <a:r>
              <a:t>Mobile &amp; Field Recovery Ready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Dedicated Mobile Layout (css/mobile.css): Slide-out navigation drawer, touch-friendly controls (&gt;=44px tap targets).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Responsive breakpoints at 1280px, 1024px, 768px, and 480px.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Field crew can open the dashboard on smartphones during parachute chase to track live GPS landing coordinates.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onsolas"/>
              </a:defRPr>
            </a:pPr>
            <a:r>
              <a:t>COGNITIVE CANSAT // PRODUCTION READINESS &amp;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Consolas"/>
              </a:defRPr>
            </a:pPr>
            <a:r>
              <a:t>SLIDE 12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Calibri"/>
              </a:defRPr>
            </a:pPr>
            <a:r>
              <a:t>Zero-Bias Scientific Verification, API Security &amp; Cloud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Full-stack compliance audit ensuring every paper claim and production endpoint is battle-tested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2606040" cy="1371600"/>
          </a:xfrm>
          <a:prstGeom prst="roundRect">
            <a:avLst/>
          </a:prstGeom>
          <a:solidFill>
            <a:srgbClr val="111C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09928"/>
            <a:ext cx="233172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0B981"/>
                </a:solidFill>
                <a:latin typeface="Consolas"/>
              </a:defRPr>
            </a:pPr>
            <a:r>
              <a:t>100%</a:t>
            </a:r>
          </a:p>
          <a:p>
            <a:pPr>
              <a:spcBef>
                <a:spcPts val="300"/>
              </a:spcBef>
              <a:defRPr sz="1200" b="1">
                <a:solidFill>
                  <a:srgbClr val="F1F5F9"/>
                </a:solidFill>
                <a:latin typeface="Calibri"/>
              </a:defRPr>
            </a:pPr>
            <a:r>
              <a:t>Claims Verified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ml/validate_paper_claims.py Passes All 4 Pillars + LaTeX Rules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4992" y="1600200"/>
            <a:ext cx="2606040" cy="1371600"/>
          </a:xfrm>
          <a:prstGeom prst="roundRect">
            <a:avLst/>
          </a:prstGeom>
          <a:solidFill>
            <a:srgbClr val="111C30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02152" y="1709928"/>
            <a:ext cx="233172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6B6D4"/>
                </a:solidFill>
                <a:latin typeface="Consolas"/>
              </a:defRPr>
            </a:pPr>
            <a:r>
              <a:t>0</a:t>
            </a:r>
          </a:p>
          <a:p>
            <a:pPr>
              <a:spcBef>
                <a:spcPts val="300"/>
              </a:spcBef>
              <a:defRPr sz="1200" b="1">
                <a:solidFill>
                  <a:srgbClr val="F1F5F9"/>
                </a:solidFill>
                <a:latin typeface="Calibri"/>
              </a:defRPr>
            </a:pPr>
            <a:r>
              <a:t>Train-Test Leakage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Disjoint Seeds (1001 Train vs 20260921 Test, 44,555 Frames)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600200"/>
            <a:ext cx="2606040" cy="1371600"/>
          </a:xfrm>
          <a:prstGeom prst="roundRect">
            <a:avLst/>
          </a:prstGeom>
          <a:solidFill>
            <a:srgbClr val="111C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709928"/>
            <a:ext cx="233172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59E0B"/>
                </a:solidFill>
                <a:latin typeface="Consolas"/>
              </a:defRPr>
            </a:pPr>
            <a:r>
              <a:t>11 / 11</a:t>
            </a:r>
          </a:p>
          <a:p>
            <a:pPr>
              <a:spcBef>
                <a:spcPts val="300"/>
              </a:spcBef>
              <a:defRPr sz="1200" b="1">
                <a:solidFill>
                  <a:srgbClr val="F1F5F9"/>
                </a:solidFill>
                <a:latin typeface="Calibri"/>
              </a:defRPr>
            </a:pPr>
            <a:r>
              <a:t>Automated Test Suites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Python Unit Tests + Node.js Self-Tests + API Security Checks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97696" y="1600200"/>
            <a:ext cx="2642616" cy="1371600"/>
          </a:xfrm>
          <a:prstGeom prst="roundRect">
            <a:avLst/>
          </a:prstGeom>
          <a:solidFill>
            <a:srgbClr val="111C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34856" y="1709928"/>
            <a:ext cx="2368296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0B981"/>
                </a:solidFill>
                <a:latin typeface="Consolas"/>
              </a:defRPr>
            </a:pPr>
            <a:r>
              <a:t>READY</a:t>
            </a:r>
          </a:p>
          <a:p>
            <a:pPr>
              <a:spcBef>
                <a:spcPts val="300"/>
              </a:spcBef>
              <a:defRPr sz="1200" b="1">
                <a:solidFill>
                  <a:srgbClr val="F1F5F9"/>
                </a:solidFill>
                <a:latin typeface="Calibri"/>
              </a:defRPr>
            </a:pPr>
            <a:r>
              <a:t>Cloud &amp; GitHub Release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Docker + HuggingFace Spaces + Hostinger Split-Deploy Ready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5486400" cy="3154680"/>
          </a:xfrm>
          <a:prstGeom prst="roundRect">
            <a:avLst/>
          </a:prstGeom>
          <a:solidFill>
            <a:srgbClr val="111C30"/>
          </a:solidFill>
          <a:ln w="15240">
            <a:solidFill>
              <a:srgbClr val="26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310128"/>
            <a:ext cx="64008" cy="293522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328416"/>
            <a:ext cx="5157216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6B6D4"/>
                </a:solidFill>
                <a:latin typeface="Calibri"/>
              </a:defRPr>
            </a:pPr>
            <a:r>
              <a:t>Unbiased Data &amp; Scientific Integrity Guarantees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Zero Analytical Bias Subtraction in Test Loop: Test evaluation uses only learned models and causal filters.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Strictly Causal Real-Time Filtering: Causal FIR Savitzky-Golay (pos=10) uses zero future lookahead.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Unpadded Prediction Intervals: [P10, P90] coverage evaluated directly on raw quantile outputs.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Transparent Limitations Section: Explicitly distinguishes N=362 bench hardware packets from 100-flight simulations.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200400"/>
            <a:ext cx="5422392" cy="3154680"/>
          </a:xfrm>
          <a:prstGeom prst="roundRect">
            <a:avLst/>
          </a:prstGeom>
          <a:solidFill>
            <a:srgbClr val="111C30"/>
          </a:solidFill>
          <a:ln w="15240">
            <a:solidFill>
              <a:srgbClr val="26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310128"/>
            <a:ext cx="64008" cy="293522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3328416"/>
            <a:ext cx="5093207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Calibri"/>
              </a:defRPr>
            </a:pPr>
            <a:r>
              <a:t>Production Security &amp; Deployment Hardening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HTTP Security Headers: X-Content-Type-Options, X-Frame-Options, Referrer-Policy, X-XSS-Protection, Permissions-Policy.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Input &amp; Path Hardening: Path-traversal sanitization on scenario routes, 15 MB image / 16 MP bomb guards, 10 MB CSV upload limits.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- Complete Documentation: README.md, DEPLOYMENT_GUIDE.md, .env.example, IEEE LaTeX paper, and downloadable PPTX pitch deck.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